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69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3444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kern="0" spc="100" dirty="0">
                <a:solidFill>
                  <a:srgbClr val="9FBF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命题：《智能面试仓的开发与应用》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49808" y="157276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kern="0" spc="25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经纬职引-智面仓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340864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kern="0" spc="200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Interview Hub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95528" y="2798064"/>
            <a:ext cx="1005840" cy="3200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44368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7E3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驱动的面试与人岗协同平台 · 四端一体化全栈作品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346704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B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模拟面试全流程闭环  |  结构化题库 297 题 · 19 个岗位大类  |  零密钥可演示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224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9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V3.0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目录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988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141732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问题与机会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7008" y="2084832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总体方案：四端一体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33472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24912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7008" y="2752344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核心场景：模拟面试全流程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00984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9242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7008" y="3419856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题库与组卷体系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68496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59936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7008" y="408736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298448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298448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38988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04688" y="141732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关键技术实现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1965960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965960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05740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04688" y="2084832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企业端与平台治理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2633472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633472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724912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04688" y="2752344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验证数据与创新点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3300984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300984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39242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04688" y="3419856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应用价值与规划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背题库 ≠ 会面试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0906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81328"/>
            <a:ext cx="310896" cy="31089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813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99616"/>
            <a:ext cx="30861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缺少被追问的压力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883664"/>
            <a:ext cx="347014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真实面试会顺着回答深挖，而题库练习是单向的，练不到临场应变。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7740" y="1280160"/>
            <a:ext cx="390906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78908" y="1481328"/>
            <a:ext cx="310896" cy="31089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8908" y="14813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9532" y="1499616"/>
            <a:ext cx="30861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只知道分数，不知道差在哪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97196" y="1883664"/>
            <a:ext cx="347014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缺少逐题证据与参考答案对照，分数高低无法转化为改进动作。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670048"/>
            <a:ext cx="390906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871216"/>
            <a:ext cx="310896" cy="31089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871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889504"/>
            <a:ext cx="30861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练完就忘，短板没有闭环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3273552"/>
            <a:ext cx="347014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一次面试的结果没有被沉淀为能力数据，也没有接到学习任务上。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77740" y="2670048"/>
            <a:ext cx="390906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78908" y="2871216"/>
            <a:ext cx="310896" cy="31089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8908" y="2871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9532" y="2889504"/>
            <a:ext cx="30861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题目与岗位不匹配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97196" y="3273552"/>
            <a:ext cx="347014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组卷把别的岗位的旧题塞进来，练了也不对应目标岗位要求。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133088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D6A4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本作品的应对：把面试还原成一次完整经历 —— 会追问、有证据、能沉淀、贴岗位。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四端一体：一次面试，双向闭环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906524" cy="2880360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1906524" cy="8229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36192"/>
            <a:ext cx="15773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公共门户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1901952"/>
            <a:ext cx="457200" cy="25603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48256"/>
            <a:ext cx="15773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 · 职位广场 · 职位详情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企业主页 · 核心特性 · 帮助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4892" y="1298448"/>
            <a:ext cx="1906524" cy="2880360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4892" y="1298448"/>
            <a:ext cx="1906524" cy="82296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9484" y="1536192"/>
            <a:ext cx="15773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个人求职者端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29484" y="1901952"/>
            <a:ext cx="457200" cy="25603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9484" y="2048256"/>
            <a:ext cx="15773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· 简历中心（双区）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能力诊断 · 模拟面试全流程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诊断报告 · 成长中心 · 学习路线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72584" y="1298448"/>
            <a:ext cx="1906524" cy="2880360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1298448"/>
            <a:ext cx="1906524" cy="82296"/>
          </a:xfrm>
          <a:prstGeom prst="rect">
            <a:avLst/>
          </a:prstGeom>
          <a:solidFill>
            <a:srgbClr val="528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1536192"/>
            <a:ext cx="15773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企业招聘端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37176" y="1901952"/>
            <a:ext cx="457200" cy="25603"/>
          </a:xfrm>
          <a:prstGeom prst="rect">
            <a:avLst/>
          </a:prstGeom>
          <a:solidFill>
            <a:srgbClr val="528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2048256"/>
            <a:ext cx="15773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发布岗位 · 候选人匹配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面试看板流转 · 结构化评价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人才库 · 招聘数据分析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80276" y="1298448"/>
            <a:ext cx="1906524" cy="2880360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0276" y="1298448"/>
            <a:ext cx="1906524" cy="82296"/>
          </a:xfrm>
          <a:prstGeom prst="rect">
            <a:avLst/>
          </a:prstGeom>
          <a:solidFill>
            <a:srgbClr val="1F2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4868" y="1536192"/>
            <a:ext cx="15773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平台治理后台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44868" y="1901952"/>
            <a:ext cx="457200" cy="25603"/>
          </a:xfrm>
          <a:prstGeom prst="rect">
            <a:avLst/>
          </a:prstGeom>
          <a:solidFill>
            <a:srgbClr val="1F2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4868" y="2048256"/>
            <a:ext cx="15773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用户/企业治理 · 资质与岗位审核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投诉处置 · 题库管理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引擎与脱敏日志 · 安全审计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7083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0281D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453128"/>
            <a:ext cx="77906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7E3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统一技术底座：JWT + 角色（RBAC）四端隔离  ·  统一响应契约  ·  统一状态容器  ·  统一 AI 引擎与来源标记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CORE FLOW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模拟面试：一次完整的面试经历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创建面试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41960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733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76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开场引导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973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746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489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逐题作答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9986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7759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EAF2EC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502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自适应追问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3999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EAF2EC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反问环节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8012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5785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528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交卷结算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2025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9798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541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诊断报告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6038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3811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6554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学习路线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2487168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487168"/>
            <a:ext cx="50292" cy="42062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542032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25296" y="2542032"/>
            <a:ext cx="7269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 JD（可改）· 简历挂接 · 模式/难度/题量；支持先预览考卷再开考，预览顺序即出题顺序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2962656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962656"/>
            <a:ext cx="50292" cy="42062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01752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作答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225296" y="3017520"/>
            <a:ext cx="7269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服务端权威计时（以题目呈现时刻为锚点，超时轻扣分且不归零）；暂停不计时；刷新不丢进度（断点续面）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438144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438144"/>
            <a:ext cx="50292" cy="42062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493008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追问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225296" y="3493008"/>
            <a:ext cx="7269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评分结果驱动：答得好追加同技能更高难度题，答得差追加更低难度题；每场上限 2 次，卷面实时记录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3913632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913632"/>
            <a:ext cx="50292" cy="42062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9684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反问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225296" y="3968496"/>
            <a:ext cx="7269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逐题结束后进入反问环节，候选人最多提问 3 条；仅登记提问、不调模型、不计入总分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4389120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389120"/>
            <a:ext cx="50292" cy="42062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443984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结算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225296" y="4443984"/>
            <a:ext cx="7269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六维 Rubric 加权汇总 + 超时/空答惩罚 → 总分与等级 · 逐题评分证据与参考答案对照 · 薄弱项写入能力画像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QUESTION BANK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题库与组卷：让题目真正贴合岗位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297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85623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结构化题目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185623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岗位大类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85623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技能维度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12801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185623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难度档次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414016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相关性下限（核心）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409444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专业题只从“本岗位大类且技能命中”中抽；取消跨岗位兜底，缺口改由 AI 按 JD + 简历定制生成，不再塞别的岗位旧题。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57200" y="2839212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894076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受控关联大类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889504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仅对技能确实重叠的少数大类登记白名单（如全栈研发 ↔ 后端/前端），属显式约束而非无差别跨类。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57200" y="3319272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74136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技能别名匹配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3369564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支持技能别名（如“消息队列”命中 Kafka），降低命名差异导致的漏匹配。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57200" y="3799332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854196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阶段有序组卷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3849624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按真实面试节奏排布：综合素养 → 专业基础 → 深度探究 → 项目深挖 → 系统设计 → 压力应对；AI 补足题一并排序，不堆卷尾。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457200" y="4279392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34256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审核态治理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86000" y="4329684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题目分 APPROVED / PENDING，组卷只取已审核题，避免未审生成题回流污染卷面。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技术架构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54864" cy="566928"/>
          </a:xfrm>
          <a:prstGeom prst="rect">
            <a:avLst/>
          </a:prstGeom>
          <a:solidFill>
            <a:srgbClr val="528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26464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前端层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874520" y="1417320"/>
            <a:ext cx="6629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3.5 + TypeScript + Element Plus + ECharts　|　四端独立布局 + RBAC 导航守卫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54864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093976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接入层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874520" y="2084832"/>
            <a:ext cx="6629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 /api/v1 RESTful　+　WebSocket 双通道　|　JWT + jti 会话吊销 · 统一响应信封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33472"/>
            <a:ext cx="54864" cy="566928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761488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服务层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874520" y="2752344"/>
            <a:ext cx="6629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interview_core（答题/推进/结算）· state_machine（非法迁移 409）· paper_builder（配比组卷 + 阶段排序）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00984"/>
            <a:ext cx="54864" cy="566928"/>
          </a:xfrm>
          <a:prstGeom prst="rect">
            <a:avLst/>
          </a:prstGeom>
          <a:solidFill>
            <a:srgbClr val="1F2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429000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AI 引擎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874520" y="3419856"/>
            <a:ext cx="6629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AIProvider：Mock 确定性沙箱 / Real（OpenAI 兼容）· Pydantic Schema 校验 · 来源标记与自动降级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68496"/>
            <a:ext cx="54864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096512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数据层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874520" y="4087368"/>
            <a:ext cx="6629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SQLite（默认免部署）/ MySQL 8　|　SQLAlchemy 2.0 · 55 张实体表 · Alembic 迁移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89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前后端分离 · 服务层集中编排 · 配置优先级 DB &gt; .env &gt; 默认（页面配置保存即生效）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AI ENGINE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双引擎 AI：离线可演示，上线可审计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86334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3863340" cy="82296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17904"/>
            <a:ext cx="34975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Mock 确定性沙箱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346100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无需任何密钥即可完整跑通全流程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确定性实现（非随机文案），同一输入可复现同一输出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演示稳定、回归测试稳定，不产生付费调用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23460" y="1298448"/>
            <a:ext cx="386334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3460" y="1298448"/>
            <a:ext cx="3863340" cy="8229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6340" y="1517904"/>
            <a:ext cx="34975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Real（OpenAI 兼容）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4628" y="1920240"/>
            <a:ext cx="346100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支持 OpenAI / DeepSeek / 通义 / Kimi / 本地 Ollama 等预设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管理员页面填写 Key / Base URL / 模型，支持连接测试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密钥掩码回显，保存即生效；调用失败自动降级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10281D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73552"/>
            <a:ext cx="78272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可解释的来源体系（本作品的关键取舍）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6656" y="3602736"/>
            <a:ext cx="77906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E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统一封装 9 类 AI 任务（简历解析/优化/改写、JD 解析、出题、六维评分、报告、学习路线、匹配解读）；每类任务绑定输出 Schema 校验，并记录实际来源（REAL / MOCK / RULE）。来源会落到卷面快照与报告并展示给用户；模拟结果不得写入正式技能证据，正式企业面试拒绝模拟评分与模拟报告。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RELIABILITY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可靠性：刷新不丢、重发不重、失败可续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62456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服务端权威计时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78608" y="1362456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以题目呈现时刻为锚点计算真实单题用时，覆盖客户端上报值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47088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幂等作答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78608" y="1847088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携带请求标识，同一请求重试返回已保存结果，不重复评分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并发保护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8608" y="2331720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评分处理带租约（CAS），两个并发提交只有一个成为评分所有者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16352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报告失败可重试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2816352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评分与报告解耦；报告失败保留作答，重试不重复评分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00984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反问记录幂等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78608" y="3300984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唯一索引（面试 + 序号 / 面试 + 请求标识）防并发与超时重发重复落库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21608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85616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私有文件授权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78608" y="3785616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上传文件按所属授权下载，不暴露可枚举路径；AI 日志脱敏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61104"/>
            <a:ext cx="7315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89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会话状态机集中声明：CREATED → READY → IN_PROGRESS ⇄ PAUSED → COMPLETED / CANCELLED / EXPIRED，终态拒绝一切操作；REST 与 WebSocket 共用同一套核心逻辑，避免双通道分叉。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 ENTERPRISE &amp; GOVERNANCE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招聘侧与治理侧：让流程可解释、可审核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319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3931920" cy="82296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36192"/>
            <a:ext cx="352958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企业招聘端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" y="1956816"/>
            <a:ext cx="347472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解析 JD，一键发布岗位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岗位经平台审核后上架，流程留痕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候选人按匹配度排序，匹配依据可解释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简历快照 + 能力档案，不做推断与虚构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面试看板流转，状态全透明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结构化面试评价，统一评分口径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人才库沉淀与招聘数据分析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98448"/>
            <a:ext cx="39319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298448"/>
            <a:ext cx="3931920" cy="8229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536192"/>
            <a:ext cx="352958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平台治理与安全合规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92624" y="1956816"/>
            <a:ext cx="347472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 / 企业治理、资质与岗位审核、投诉处置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题库管理与 AI 引擎配置、脱敏调用日志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 + jti 有效会话校验，支持强制下线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四端角色隔离（SEC-01~07），越权 403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企业侧严禁访问个人训练与私密数据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数据诚实性：无依据显示“未知”，不虚构学历与业绩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密码不落本地；私有文件按所属授权下载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 VERIFICATION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验证：全部结论都有可复现的依据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76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0352" y="1847088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后端回归测试通过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" y="206654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隔离临时库 + 模拟 AI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297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633472" y="1847088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题库题目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15184" y="206654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 大类 · 84 技能 · 三档难度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9202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19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736592" y="1847088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岗位大类实测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18304" y="206654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专业题 100% 属本岗位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0" y="1280160"/>
            <a:ext cx="19202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839712" y="1847088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跨岗位陈题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21424" y="206654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取消跨类兜底后实测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487168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487168"/>
            <a:ext cx="50292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56032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后端回归测试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2560320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pytest tests -q（隔离临时库 + 模拟 AI）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2560320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76 项通过 / 0 失败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08376"/>
            <a:ext cx="50292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081528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端到端冒烟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40280" y="30815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组卷 → 全程作答 → 追问 → 反问 → 交卷 → 报告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3081528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通过（含跨类零容忍、AI 补足、反问全流程用例）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529584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529584"/>
            <a:ext cx="50292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60273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前端类型检查与构建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40280" y="3602736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npm run build（vue-tsc + vite build）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3602736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通过（仅包体积提示）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05079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050792"/>
            <a:ext cx="50292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123944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数据库迁移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40280" y="412394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Alembic 升级 → 降级 → 再升级（真实库副本演练）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29400" y="4123944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通过，既有数据无损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572000"/>
            <a:ext cx="50292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64515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浏览器实测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240280" y="4645152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桌面端与 390px 手机布局、核心流程走查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29400" y="4645152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通过（面试间、报告、治理后台）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 INNOVATION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创新点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63040"/>
            <a:ext cx="310896" cy="310896"/>
          </a:xfrm>
          <a:prstGeom prst="ellipse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630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0704" y="1380744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把“贴切度”变成硬规则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46120" y="1380744"/>
            <a:ext cx="5257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题目不跨岗位从经验判断变为可验证约束：19 个大类逐一实测，专业题 100% 属本岗位大类；配套受控关联白名单与技能别名匹配。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203704"/>
            <a:ext cx="310896" cy="310896"/>
          </a:xfrm>
          <a:prstGeom prst="ellipse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0370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0704" y="212140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面试流程对齐真人面试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46120" y="2121408"/>
            <a:ext cx="5257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补齐容易被忽略的开场引导与反问环节；反问只记录提问、不计分，兼顾流程完整与心理安全。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944368"/>
            <a:ext cx="310896" cy="310896"/>
          </a:xfrm>
          <a:prstGeom prst="ellipse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9443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0704" y="28620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可解释的 AI 来源体系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46120" y="2862072"/>
            <a:ext cx="5257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每道题、每次评分、每份报告记录实际来源并展示；模拟结果禁止写入能力画像，把 AI 生成从黑箱变为可审计链路。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685032"/>
            <a:ext cx="310896" cy="310896"/>
          </a:xfrm>
          <a:prstGeom prst="ellipse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6850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0704" y="3602736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零密钥可演示的双引擎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46120" y="3602736"/>
            <a:ext cx="5257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Mock 引擎为确定性实现，演示与回归测试都稳定可复现，且不产生任何付费调用。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4425696"/>
            <a:ext cx="310896" cy="310896"/>
          </a:xfrm>
          <a:prstGeom prst="ellipse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4256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0704" y="43434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服务端权威的可靠性基线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46120" y="4343400"/>
            <a:ext cx="5257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计时锚点 + 幂等 + 并发租约 + 报告重试，构成“刷新不丢、重发不重、失败可续”的体验基线。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 VALUE &amp; ROADMAP</a:t>
            </a:r>
            <a:endParaRPr lang="en-US" sz="1050" b="1" kern="0" spc="120" dirty="0">
              <a:solidFill>
                <a:srgbClr val="C7A25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应用价值与后续规划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77724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44752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应用价值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1792224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求职者：把刷题变成练面试，并获得可执行的改进方向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高校就业指导：批量训练与能力摸底，输出短板分布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中小企业：岗位结构化、筛选可解释、评价标准化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职教机构：可复用为教学工具与效果评估工具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280160"/>
            <a:ext cx="3931920" cy="7772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444752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后续规划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792224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题库治理：扩充长尾大类题量，补齐技能别名覆盖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能力评估：反问质量评估（不惩罚内向用户）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工程化：异常会话定时清扫、评测集与效果回归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体验：评分流式呈现、多语言面试、无障碍适配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82296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99232"/>
            <a:ext cx="50292" cy="1481328"/>
          </a:xfrm>
          <a:prstGeom prst="rect">
            <a:avLst/>
          </a:prstGeom>
          <a:solidFill>
            <a:srgbClr val="528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1272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已明确的范围取舍（非遗漏，是设计决策）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" y="3419856"/>
            <a:ext cx="77266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验证码、接口限流、异步队列、病毒扫描等“防御当前并不存在的威胁”的能力，明确划为范围外并归档理由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单文件适合个人/演示规模；多实例水平扩展需切换 MySQL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语音识别由浏览器厂商云端完成，刻意未接入云端 ASR 以避免密钥与配额依赖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与真实模型服务需在实际部署环境进一步验证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通知广播仍在单进程内，多实例部署需引入共享消息通道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8930" y="260350"/>
            <a:ext cx="946785" cy="252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4332"/>
                </a:solidFill>
              </a:defRPr>
            </a:pPr>
            <a:r>
              <a:rPr lang="en-US" sz="1050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8930" y="549910"/>
            <a:ext cx="163830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332"/>
                </a:solidFill>
              </a:defRPr>
            </a:pPr>
            <a:r>
              <a:rPr lang="en-US" sz="2700" kern="0" spc="1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组员分工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B4332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985" y="151003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332"/>
                </a:solidFill>
              </a:defRPr>
            </a:pPr>
            <a:r>
              <a:t>付津硕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85" y="1967230"/>
            <a:ext cx="1407160" cy="275590"/>
          </a:xfrm>
          <a:prstGeom prst="rect">
            <a:avLst/>
          </a:prstGeom>
          <a:solidFill>
            <a:srgbClr val="1B4332"/>
          </a:solidFill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后端核心 + AI引擎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" y="2528570"/>
            <a:ext cx="3340735" cy="157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AI双引擎实现（Mock沙箱 + Real引擎）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后端API开发（/api/v1 RESTful）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数据库设计 + Alembic迁移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题库系统 + 组卷算法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JWT鉴权 + RBAC权限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1003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332"/>
                </a:solidFill>
              </a:defRPr>
            </a:pPr>
            <a:r>
              <a:t>肖力宏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81835"/>
            <a:ext cx="914400" cy="275590"/>
          </a:xfrm>
          <a:prstGeom prst="rect">
            <a:avLst/>
          </a:prstGeom>
          <a:solidFill>
            <a:srgbClr val="1B4332"/>
          </a:solidFill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前端开发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146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Vue 3.5 四端前端开发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Element Plus组件集成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面试间UI/交互实现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简历中心（在线+文档双区）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个人工作台 + 诊断报告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4055" y="151003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332"/>
                </a:solidFill>
              </a:defRPr>
            </a:pPr>
            <a:r>
              <a:t>柯敬扬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4055" y="1967230"/>
            <a:ext cx="1280160" cy="320040"/>
          </a:xfrm>
          <a:prstGeom prst="rect">
            <a:avLst/>
          </a:prstGeom>
          <a:solidFill>
            <a:srgbClr val="1B4332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企业端 + 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5795" y="2514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企业招聘端开发（岗位发布/候选人匹配）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平台治理后台（审核/题库管理）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WebSocket实时通信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端到端测试 + 回归测试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可靠性保障（幂等/断点续面）</a:t>
            </a:r>
          </a:p>
        </p:txBody>
      </p:sp>
      <p:sp>
        <p:nvSpPr>
          <p:cNvPr id="14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572768"/>
            <a:ext cx="75895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让每一次面试，都留下可复用的成长证据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2487168"/>
            <a:ext cx="1005840" cy="3200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88336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7E3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经纬职引-智面仓（AI Interview Hub）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FBF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从模拟面试到人岗协同，把“练习”变成可量化、可沉淀、可复用的能力资产。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C7A25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感谢观看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4370</Words>
  <Application>WPS 演示</Application>
  <PresentationFormat>On-screen Show (16:9)</PresentationFormat>
  <Paragraphs>475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宋体</vt:lpstr>
      <vt:lpstr>Georgia</vt:lpstr>
      <vt:lpstr>Georgia</vt:lpstr>
      <vt:lpstr>Georgia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。</cp:lastModifiedBy>
  <cp:revision>3</cp:revision>
  <dcterms:created xsi:type="dcterms:W3CDTF">2026-10-14T00:30:00Z</dcterms:created>
  <dcterms:modified xsi:type="dcterms:W3CDTF">2026-10-14T03:46:18Z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A319DA68E6CB46E1916F40451A604730_12</vt:lpwstr>
  </property>
</Properties>
</file>